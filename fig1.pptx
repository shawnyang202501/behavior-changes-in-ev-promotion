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CB76"/>
    <a:srgbClr val="E1F3FE"/>
    <a:srgbClr val="FDEAEE"/>
    <a:srgbClr val="FEF3F5"/>
    <a:srgbClr val="F9E5C3"/>
    <a:srgbClr val="D0EBFD"/>
    <a:srgbClr val="F3ACAE"/>
    <a:srgbClr val="A2CAE4"/>
    <a:srgbClr val="DFB1B1"/>
    <a:srgbClr val="95D2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2"/>
        <p:guide pos="38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圆角矩形 67"/>
          <p:cNvSpPr/>
          <p:nvPr/>
        </p:nvSpPr>
        <p:spPr>
          <a:xfrm>
            <a:off x="-17780" y="1461135"/>
            <a:ext cx="520700" cy="3416300"/>
          </a:xfrm>
          <a:prstGeom prst="roundRect">
            <a:avLst/>
          </a:prstGeom>
          <a:solidFill>
            <a:srgbClr val="F9E5C3"/>
          </a:solidFill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0"/>
          <a:p>
            <a:pPr algn="ctr"/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4840" y="511810"/>
            <a:ext cx="2429510" cy="5435600"/>
          </a:xfrm>
          <a:prstGeom prst="rect">
            <a:avLst/>
          </a:prstGeom>
          <a:solidFill>
            <a:srgbClr val="A2CAE4"/>
          </a:solidFill>
          <a:ln w="9525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36195" rtlCol="0" anchor="t" anchorCtr="0"/>
          <a:p>
            <a:pPr algn="l">
              <a:buClrTx/>
              <a:buSzTx/>
              <a:buFontTx/>
            </a:pPr>
            <a:r>
              <a:rPr lang="en-US" altLang="zh-CN" sz="2200" b="1">
                <a:latin typeface="Times New Roman" panose="02020603050405020304" charset="0"/>
                <a:cs typeface="Times New Roman" panose="02020603050405020304" charset="0"/>
              </a:rPr>
              <a:t>ASIF Framework</a:t>
            </a:r>
            <a:endParaRPr lang="en-US" altLang="zh-CN" sz="2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28040" y="907415"/>
            <a:ext cx="2001520" cy="2128520"/>
          </a:xfrm>
          <a:prstGeom prst="roundRect">
            <a:avLst>
              <a:gd name="adj" fmla="val 6852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0"/>
          <a:p>
            <a:pPr algn="ctr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Activity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003300" y="1243965"/>
            <a:ext cx="1634490" cy="723265"/>
          </a:xfrm>
          <a:prstGeom prst="roundRect">
            <a:avLst>
              <a:gd name="adj" fmla="val 9351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36195" rIns="36195" rtlCol="0" anchor="ctr"/>
          <a:p>
            <a:pPr algn="ctr"/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Fleet stock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010285" y="2209800"/>
            <a:ext cx="1634490" cy="658495"/>
          </a:xfrm>
          <a:prstGeom prst="roundRect">
            <a:avLst>
              <a:gd name="adj" fmla="val 9351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36195" rIns="36195" rtlCol="0" anchor="ctr"/>
          <a:p>
            <a:pPr algn="ctr"/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VKT per vehicle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 rot="10800000">
            <a:off x="-38735" y="2045335"/>
            <a:ext cx="552450" cy="2263140"/>
          </a:xfrm>
          <a:prstGeom prst="rect">
            <a:avLst/>
          </a:prstGeom>
          <a:noFill/>
        </p:spPr>
        <p:txBody>
          <a:bodyPr vert="mongolianVert" wrap="square" rtlCol="0" anchor="ctr" anchorCtr="0">
            <a:noAutofit/>
          </a:bodyPr>
          <a:p>
            <a:pPr algn="ctr"/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EV </a:t>
            </a: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Promotion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83560" y="502920"/>
            <a:ext cx="2419985" cy="5435600"/>
          </a:xfrm>
          <a:prstGeom prst="rect">
            <a:avLst/>
          </a:prstGeom>
          <a:solidFill>
            <a:srgbClr val="F3ACAE"/>
          </a:solidFill>
          <a:ln w="9525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0"/>
          <a:p>
            <a:pPr algn="l">
              <a:buClrTx/>
              <a:buSzTx/>
              <a:buFontTx/>
            </a:pPr>
            <a:r>
              <a:rPr lang="en-US" altLang="zh-CN" sz="2200" b="1">
                <a:latin typeface="Times New Roman" panose="02020603050405020304" charset="0"/>
                <a:cs typeface="Times New Roman" panose="02020603050405020304" charset="0"/>
              </a:rPr>
              <a:t>Ⅰ. Quantifying Dual </a:t>
            </a:r>
            <a:r>
              <a:rPr lang="en-US" altLang="zh-CN" sz="2200" b="1">
                <a:latin typeface="Times New Roman" panose="02020603050405020304" charset="0"/>
                <a:cs typeface="Times New Roman" panose="02020603050405020304" charset="0"/>
              </a:rPr>
              <a:t>Expansion</a:t>
            </a:r>
            <a:endParaRPr lang="zh-CN" altLang="en-US" sz="22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3314065" y="1398270"/>
            <a:ext cx="1931035" cy="1558925"/>
          </a:xfrm>
          <a:prstGeom prst="roundRect">
            <a:avLst>
              <a:gd name="adj" fmla="val 9351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36195" rIns="36195" rtlCol="0" anchor="ctr"/>
          <a:p>
            <a:pPr algn="ctr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Ownership expansion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Additional vehicle entry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3311525" y="3127375"/>
            <a:ext cx="1949450" cy="1584960"/>
          </a:xfrm>
          <a:prstGeom prst="roundRect">
            <a:avLst>
              <a:gd name="adj" fmla="val 9351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36195" rIns="36195" rtlCol="0" anchor="ctr"/>
          <a:p>
            <a:pPr algn="ctr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Use expansion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Higher annual VKT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523230" y="501650"/>
            <a:ext cx="2329815" cy="5446395"/>
          </a:xfrm>
          <a:prstGeom prst="rect">
            <a:avLst/>
          </a:prstGeom>
          <a:solidFill>
            <a:srgbClr val="D7BDBA"/>
          </a:solidFill>
          <a:ln w="9525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0"/>
          <a:p>
            <a:pPr algn="l">
              <a:buClrTx/>
              <a:buSzTx/>
              <a:buFontTx/>
            </a:pPr>
            <a:r>
              <a:rPr lang="en-US" altLang="zh-CN" sz="2200" b="1">
                <a:latin typeface="Times New Roman" panose="02020603050405020304" charset="0"/>
                <a:cs typeface="Times New Roman" panose="02020603050405020304" charset="0"/>
              </a:rPr>
              <a:t>Ⅱ. Potential Mechanisms</a:t>
            </a:r>
            <a:endParaRPr lang="en-US" altLang="zh-CN" sz="22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5623560" y="1409065"/>
            <a:ext cx="2110105" cy="1197610"/>
          </a:xfrm>
          <a:prstGeom prst="roundRect">
            <a:avLst>
              <a:gd name="adj" fmla="val 9351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rIns="0" rtlCol="0" anchor="ctr"/>
          <a:p>
            <a:pPr indent="0" algn="l"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Vehicle-demand activation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Defensive market response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Product differentiation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5623560" y="3462020"/>
            <a:ext cx="2110105" cy="1250315"/>
          </a:xfrm>
          <a:prstGeom prst="roundRect">
            <a:avLst>
              <a:gd name="adj" fmla="val 9351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36195" rIns="36195" rtlCol="0" anchor="ctr"/>
          <a:p>
            <a:pPr indent="0" algn="l"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Travel-demand release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Cost-induced rebound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Environmental moral licensing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877810" y="511175"/>
            <a:ext cx="2282190" cy="5436870"/>
          </a:xfrm>
          <a:prstGeom prst="rect">
            <a:avLst/>
          </a:prstGeom>
          <a:solidFill>
            <a:srgbClr val="9ED4E0"/>
          </a:solidFill>
          <a:ln w="9525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0"/>
          <a:p>
            <a:pPr algn="l">
              <a:buClrTx/>
              <a:buSzTx/>
              <a:buFontTx/>
            </a:pPr>
            <a:r>
              <a:rPr lang="en-US" altLang="zh-CN" sz="2200" b="1">
                <a:latin typeface="Times New Roman" panose="02020603050405020304" charset="0"/>
                <a:cs typeface="Times New Roman" panose="02020603050405020304" charset="0"/>
              </a:rPr>
              <a:t>Ⅲ. Emission Consequences</a:t>
            </a:r>
            <a:endParaRPr lang="en-US" altLang="zh-CN" sz="22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7995285" y="1398270"/>
            <a:ext cx="2018665" cy="1871345"/>
          </a:xfrm>
          <a:prstGeom prst="roundRect">
            <a:avLst>
              <a:gd name="adj" fmla="val 6626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Behavior-adjusted fleet inputs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New-vehicle additions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Fleet composition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VKT per vehicle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Turnover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endParaRPr lang="en-US" altLang="zh-CN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988935" y="3441700"/>
            <a:ext cx="2027555" cy="1285240"/>
          </a:xfrm>
          <a:prstGeom prst="roundRect">
            <a:avLst>
              <a:gd name="adj" fmla="val 6490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4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Lifecycle-emission inputs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Vehicle-cycle intensity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Fuel-cycle emission factors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endParaRPr lang="en-US" altLang="zh-CN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053070" y="4858385"/>
            <a:ext cx="1864360" cy="403225"/>
          </a:xfrm>
          <a:prstGeom prst="roundRect">
            <a:avLst>
              <a:gd name="adj" fmla="val 9351"/>
            </a:avLst>
          </a:prstGeom>
          <a:solidFill>
            <a:srgbClr val="E1F3FE"/>
          </a:solidFill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36195" rIns="36195" rtlCol="0" anchor="ctr"/>
          <a:p>
            <a:pPr algn="ctr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Behavior-adjusted fleet-LCA model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4" name="直接连接符 33"/>
          <p:cNvCxnSpPr>
            <a:stCxn id="8" idx="3"/>
            <a:endCxn id="17" idx="1"/>
          </p:cNvCxnSpPr>
          <p:nvPr/>
        </p:nvCxnSpPr>
        <p:spPr>
          <a:xfrm>
            <a:off x="2637790" y="1605915"/>
            <a:ext cx="676275" cy="57213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triangle" w="lg" len="lg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9" idx="3"/>
            <a:endCxn id="18" idx="1"/>
          </p:cNvCxnSpPr>
          <p:nvPr/>
        </p:nvCxnSpPr>
        <p:spPr>
          <a:xfrm>
            <a:off x="2644775" y="2539365"/>
            <a:ext cx="666750" cy="138049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triangle" w="lg" len="lg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5263515" y="2867025"/>
            <a:ext cx="2741295" cy="190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triangle" w="lg" len="lg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5260340" y="3180080"/>
            <a:ext cx="2750185" cy="381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triangle" w="lg" len="lg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肘形连接符 64"/>
          <p:cNvCxnSpPr>
            <a:stCxn id="15" idx="1"/>
            <a:endCxn id="6" idx="1"/>
          </p:cNvCxnSpPr>
          <p:nvPr/>
        </p:nvCxnSpPr>
        <p:spPr>
          <a:xfrm flipV="1">
            <a:off x="513715" y="1971675"/>
            <a:ext cx="314325" cy="1205230"/>
          </a:xfrm>
          <a:prstGeom prst="bentConnector3">
            <a:avLst>
              <a:gd name="adj1" fmla="val 36161"/>
            </a:avLst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triangle" w="lg" len="lg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0186670" y="501650"/>
            <a:ext cx="1953260" cy="5436870"/>
          </a:xfrm>
          <a:prstGeom prst="rect">
            <a:avLst/>
          </a:prstGeom>
          <a:solidFill>
            <a:srgbClr val="D6CB76"/>
          </a:solidFill>
          <a:ln w="9525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0"/>
          <a:p>
            <a:pPr algn="l"/>
            <a:r>
              <a:rPr lang="en-US" altLang="zh-CN" sz="2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Ⅳ. Mitigation Pathways</a:t>
            </a:r>
            <a:endParaRPr lang="en-US" altLang="zh-CN" sz="22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0279380" y="1288415"/>
            <a:ext cx="1778000" cy="1162050"/>
          </a:xfrm>
          <a:prstGeom prst="roundRect">
            <a:avLst>
              <a:gd name="adj" fmla="val 6626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Halt EV 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diffusion?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10287000" y="2693035"/>
            <a:ext cx="1778000" cy="1152525"/>
          </a:xfrm>
          <a:prstGeom prst="roundRect">
            <a:avLst>
              <a:gd name="adj" fmla="val 6626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Manage 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aditional vehicle entry?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10273665" y="4130040"/>
            <a:ext cx="1778000" cy="1087755"/>
          </a:xfrm>
          <a:prstGeom prst="roundRect">
            <a:avLst>
              <a:gd name="adj" fmla="val 6626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Accelerate lifecycle decarbonization?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36" name="直接箭头连接符 35"/>
          <p:cNvCxnSpPr>
            <a:stCxn id="14" idx="1"/>
            <a:endCxn id="24" idx="3"/>
          </p:cNvCxnSpPr>
          <p:nvPr/>
        </p:nvCxnSpPr>
        <p:spPr>
          <a:xfrm flipH="1">
            <a:off x="10016490" y="1869440"/>
            <a:ext cx="262890" cy="2214880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triangle" w="lg" len="lg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endCxn id="23" idx="3"/>
          </p:cNvCxnSpPr>
          <p:nvPr/>
        </p:nvCxnSpPr>
        <p:spPr>
          <a:xfrm flipH="1">
            <a:off x="10013950" y="1745615"/>
            <a:ext cx="203200" cy="588645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triangle" w="lg" len="lg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28" idx="1"/>
            <a:endCxn id="23" idx="3"/>
          </p:cNvCxnSpPr>
          <p:nvPr/>
        </p:nvCxnSpPr>
        <p:spPr>
          <a:xfrm flipH="1" flipV="1">
            <a:off x="10013950" y="2334260"/>
            <a:ext cx="273050" cy="935355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triangle" w="lg" len="lg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29" idx="1"/>
            <a:endCxn id="24" idx="3"/>
          </p:cNvCxnSpPr>
          <p:nvPr/>
        </p:nvCxnSpPr>
        <p:spPr>
          <a:xfrm flipH="1" flipV="1">
            <a:off x="10016490" y="4084320"/>
            <a:ext cx="257175" cy="589915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triangle" w="lg" len="lg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6790690" y="3188335"/>
            <a:ext cx="1270" cy="27368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triangle" w="lg" len="lg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圆角矩形 42"/>
          <p:cNvSpPr/>
          <p:nvPr/>
        </p:nvSpPr>
        <p:spPr>
          <a:xfrm>
            <a:off x="828040" y="3230880"/>
            <a:ext cx="2001520" cy="2658110"/>
          </a:xfrm>
          <a:prstGeom prst="roundRect">
            <a:avLst>
              <a:gd name="adj" fmla="val 6852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0"/>
          <a:p>
            <a:pPr algn="ctr"/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993140" y="3321050"/>
            <a:ext cx="1671955" cy="594995"/>
          </a:xfrm>
          <a:prstGeom prst="roundRect">
            <a:avLst>
              <a:gd name="adj" fmla="val 9351"/>
            </a:avLst>
          </a:prstGeom>
          <a:solidFill>
            <a:srgbClr val="E1F3FE"/>
          </a:solidFill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36195" rIns="36195" rtlCol="0" anchor="ctr"/>
          <a:p>
            <a:pPr algn="ctr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Structure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1000125" y="4264025"/>
            <a:ext cx="1671955" cy="594360"/>
          </a:xfrm>
          <a:prstGeom prst="roundRect">
            <a:avLst>
              <a:gd name="adj" fmla="val 9351"/>
            </a:avLst>
          </a:prstGeom>
          <a:solidFill>
            <a:srgbClr val="E1F3FE"/>
          </a:solidFill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36195" rIns="36195" rtlCol="0" anchor="ctr"/>
          <a:p>
            <a:pPr algn="ctr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Intensity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1000125" y="5184775"/>
            <a:ext cx="1671955" cy="594360"/>
          </a:xfrm>
          <a:prstGeom prst="roundRect">
            <a:avLst>
              <a:gd name="adj" fmla="val 9351"/>
            </a:avLst>
          </a:prstGeom>
          <a:solidFill>
            <a:srgbClr val="E1F3FE"/>
          </a:solidFill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36195" rIns="36195" rtlCol="0" anchor="ctr"/>
          <a:p>
            <a:pPr algn="ctr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Fuel carbon factor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6" name="肘形连接符 65"/>
          <p:cNvCxnSpPr>
            <a:stCxn id="15" idx="1"/>
            <a:endCxn id="10" idx="1"/>
          </p:cNvCxnSpPr>
          <p:nvPr/>
        </p:nvCxnSpPr>
        <p:spPr>
          <a:xfrm>
            <a:off x="513715" y="3176905"/>
            <a:ext cx="479425" cy="441960"/>
          </a:xfrm>
          <a:prstGeom prst="bentConnector3">
            <a:avLst>
              <a:gd name="adj1" fmla="val 24105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肘形连接符 66"/>
          <p:cNvCxnSpPr>
            <a:stCxn id="15" idx="1"/>
            <a:endCxn id="11" idx="1"/>
          </p:cNvCxnSpPr>
          <p:nvPr/>
        </p:nvCxnSpPr>
        <p:spPr>
          <a:xfrm>
            <a:off x="513715" y="3176905"/>
            <a:ext cx="486410" cy="1384300"/>
          </a:xfrm>
          <a:prstGeom prst="bentConnector3">
            <a:avLst>
              <a:gd name="adj1" fmla="val 23107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803390" y="2606040"/>
            <a:ext cx="3810" cy="27876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triangle" w="lg" len="lg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79750" y="5527675"/>
            <a:ext cx="6096000" cy="4387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buClrTx/>
              <a:buSzTx/>
              <a:buFontTx/>
            </a:pPr>
            <a:r>
              <a:rPr lang="en-US" altLang="zh-CN" sz="22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changes?</a:t>
            </a:r>
            <a:endParaRPr lang="en-US" altLang="zh-CN" sz="22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92115" y="5554345"/>
            <a:ext cx="6096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2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Why it occur</a:t>
            </a:r>
            <a:r>
              <a:rPr lang="en-US" altLang="zh-CN" sz="22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s?</a:t>
            </a:r>
            <a:endParaRPr lang="en-US" altLang="zh-CN" sz="22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57795" y="5552440"/>
            <a:ext cx="245618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2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consequence</a:t>
            </a:r>
            <a:r>
              <a:rPr lang="en-US" altLang="zh-CN" sz="22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s?</a:t>
            </a:r>
            <a:endParaRPr lang="en-US" altLang="zh-CN" sz="22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121900" y="5567680"/>
            <a:ext cx="212979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2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How to </a:t>
            </a:r>
            <a:r>
              <a:rPr lang="en-US" altLang="zh-CN" sz="22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adapt?</a:t>
            </a:r>
            <a:endParaRPr lang="en-US" altLang="zh-CN" sz="22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24965" y="1899920"/>
            <a:ext cx="259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tx1"/>
          </a:solidFill>
        </a:ln>
      </a:spPr>
      <a:bodyPr rtlCol="0" anchor="t" anchorCtr="0"/>
      <a:lstStyle>
        <a:defPPr algn="ctr">
          <a:defRPr lang="en-US" altLang="zh-CN"/>
        </a:defPPr>
      </a:lstStyle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spDef>
    <a:lnDef>
      <a:spPr>
        <a:ln>
          <a:solidFill>
            <a:schemeClr val="tx1"/>
          </a:solidFill>
          <a:tailEnd type="triangle" w="lg" len="lg"/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762</Words>
  <Application>WPS 演示</Application>
  <PresentationFormat>宽屏</PresentationFormat>
  <Paragraphs>74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杨硕</cp:lastModifiedBy>
  <cp:revision>180</cp:revision>
  <dcterms:created xsi:type="dcterms:W3CDTF">2019-06-19T02:08:00Z</dcterms:created>
  <dcterms:modified xsi:type="dcterms:W3CDTF">2026-08-14T02:41:24Z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67B71A58FD374D119E14C424E4677A65_13</vt:lpwstr>
  </property>
</Properties>
</file>